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B365D-C3E3-4930-AF55-14D1C62D1F89}" v="377" dt="2026-02-01T13:55:20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wadekar" userId="a079281a13c2eb62" providerId="LiveId" clId="{FA81C554-9865-48CD-91EF-257899B63604}"/>
    <pc:docChg chg="undo redo custSel delSld modSld">
      <pc:chgData name="krishna wadekar" userId="a079281a13c2eb62" providerId="LiveId" clId="{FA81C554-9865-48CD-91EF-257899B63604}" dt="2026-02-01T13:55:20.859" v="606"/>
      <pc:docMkLst>
        <pc:docMk/>
      </pc:docMkLst>
      <pc:sldChg chg="addSp delSp modSp mod modAnim">
        <pc:chgData name="krishna wadekar" userId="a079281a13c2eb62" providerId="LiveId" clId="{FA81C554-9865-48CD-91EF-257899B63604}" dt="2026-02-01T13:11:16.342" v="306" actId="1076"/>
        <pc:sldMkLst>
          <pc:docMk/>
          <pc:sldMk cId="0" sldId="256"/>
        </pc:sldMkLst>
        <pc:spChg chg="mod">
          <ac:chgData name="krishna wadekar" userId="a079281a13c2eb62" providerId="LiveId" clId="{FA81C554-9865-48CD-91EF-257899B63604}" dt="2026-02-01T13:01:58.062" v="24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02:20.240" v="252" actId="1076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krishna wadekar" userId="a079281a13c2eb62" providerId="LiveId" clId="{FA81C554-9865-48CD-91EF-257899B63604}" dt="2026-02-01T12:55:14.784" v="134" actId="478"/>
          <ac:spMkLst>
            <pc:docMk/>
            <pc:sldMk cId="0" sldId="256"/>
            <ac:spMk id="8" creationId="{E7C8F109-8B44-110E-D3DE-57C2E8780073}"/>
          </ac:spMkLst>
        </pc:spChg>
        <pc:spChg chg="add mod">
          <ac:chgData name="krishna wadekar" userId="a079281a13c2eb62" providerId="LiveId" clId="{FA81C554-9865-48CD-91EF-257899B63604}" dt="2026-02-01T13:11:16.342" v="306" actId="1076"/>
          <ac:spMkLst>
            <pc:docMk/>
            <pc:sldMk cId="0" sldId="256"/>
            <ac:spMk id="9" creationId="{5163F551-0D5C-5D6C-8A92-51737E9AF1AE}"/>
          </ac:spMkLst>
        </pc:spChg>
        <pc:spChg chg="add del mod">
          <ac:chgData name="krishna wadekar" userId="a079281a13c2eb62" providerId="LiveId" clId="{FA81C554-9865-48CD-91EF-257899B63604}" dt="2026-02-01T13:01:03.284" v="188" actId="478"/>
          <ac:spMkLst>
            <pc:docMk/>
            <pc:sldMk cId="0" sldId="256"/>
            <ac:spMk id="12" creationId="{CAD5F39B-8F8B-43E7-1B22-D3E7D8657534}"/>
          </ac:spMkLst>
        </pc:spChg>
        <pc:picChg chg="add mod modCrop">
          <ac:chgData name="krishna wadekar" userId="a079281a13c2eb62" providerId="LiveId" clId="{FA81C554-9865-48CD-91EF-257899B63604}" dt="2026-02-01T13:11:16.342" v="306" actId="1076"/>
          <ac:picMkLst>
            <pc:docMk/>
            <pc:sldMk cId="0" sldId="256"/>
            <ac:picMk id="7" creationId="{5199FC6C-C2E5-3448-1DFD-3FC70C36149D}"/>
          </ac:picMkLst>
        </pc:picChg>
        <pc:picChg chg="add del mod">
          <ac:chgData name="krishna wadekar" userId="a079281a13c2eb62" providerId="LiveId" clId="{FA81C554-9865-48CD-91EF-257899B63604}" dt="2026-02-01T13:01:03.284" v="188" actId="478"/>
          <ac:picMkLst>
            <pc:docMk/>
            <pc:sldMk cId="0" sldId="256"/>
            <ac:picMk id="11" creationId="{D070AD10-258B-0CA0-E440-3575A13DCD5C}"/>
          </ac:picMkLst>
        </pc:picChg>
      </pc:sldChg>
      <pc:sldChg chg="modSp mod modAnim">
        <pc:chgData name="krishna wadekar" userId="a079281a13c2eb62" providerId="LiveId" clId="{FA81C554-9865-48CD-91EF-257899B63604}" dt="2026-02-01T13:11:43.908" v="307"/>
        <pc:sldMkLst>
          <pc:docMk/>
          <pc:sldMk cId="0" sldId="257"/>
        </pc:sldMkLst>
        <pc:spChg chg="mod">
          <ac:chgData name="krishna wadekar" userId="a079281a13c2eb62" providerId="LiveId" clId="{FA81C554-9865-48CD-91EF-257899B63604}" dt="2026-02-01T09:59:35.452" v="49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08:08.405" v="290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51:59.564" v="589"/>
        <pc:sldMkLst>
          <pc:docMk/>
          <pc:sldMk cId="0" sldId="258"/>
        </pc:sldMkLst>
        <pc:spChg chg="mod">
          <ac:chgData name="krishna wadekar" userId="a079281a13c2eb62" providerId="LiveId" clId="{FA81C554-9865-48CD-91EF-257899B63604}" dt="2026-02-01T09:59:43.093" v="50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09:57:19.464" v="44" actId="1076"/>
          <ac:spMkLst>
            <pc:docMk/>
            <pc:sldMk cId="0" sldId="258"/>
            <ac:spMk id="8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13:59.881" v="320"/>
        <pc:sldMkLst>
          <pc:docMk/>
          <pc:sldMk cId="0" sldId="259"/>
        </pc:sldMkLst>
        <pc:spChg chg="mod">
          <ac:chgData name="krishna wadekar" userId="a079281a13c2eb62" providerId="LiveId" clId="{FA81C554-9865-48CD-91EF-257899B63604}" dt="2026-02-01T09:59:54.320" v="51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12:37.523" v="309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09:58:16.103" v="48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17:28.459" v="358"/>
        <pc:sldMkLst>
          <pc:docMk/>
          <pc:sldMk cId="0" sldId="260"/>
        </pc:sldMkLst>
        <pc:spChg chg="mod">
          <ac:chgData name="krishna wadekar" userId="a079281a13c2eb62" providerId="LiveId" clId="{FA81C554-9865-48CD-91EF-257899B63604}" dt="2026-02-01T10:00:01.812" v="52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17:02.964" v="354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16:06.863" v="346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16:55.642" v="353" actId="1076"/>
          <ac:spMkLst>
            <pc:docMk/>
            <pc:sldMk cId="0" sldId="260"/>
            <ac:spMk id="13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21:11.622" v="377"/>
        <pc:sldMkLst>
          <pc:docMk/>
          <pc:sldMk cId="0" sldId="261"/>
        </pc:sldMkLst>
        <pc:spChg chg="mod">
          <ac:chgData name="krishna wadekar" userId="a079281a13c2eb62" providerId="LiveId" clId="{FA81C554-9865-48CD-91EF-257899B63604}" dt="2026-02-01T10:00:11.688" v="53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19:22.912" v="365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0:43.002" v="54" actId="1076"/>
          <ac:spMkLst>
            <pc:docMk/>
            <pc:sldMk cId="0" sldId="261"/>
            <ac:spMk id="17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24:29.686" v="402"/>
        <pc:sldMkLst>
          <pc:docMk/>
          <pc:sldMk cId="0" sldId="262"/>
        </pc:sldMkLst>
        <pc:spChg chg="mod">
          <ac:chgData name="krishna wadekar" userId="a079281a13c2eb62" providerId="LiveId" clId="{FA81C554-9865-48CD-91EF-257899B63604}" dt="2026-02-01T10:00:58.339" v="55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22:20.479" v="380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25:40.474" v="411"/>
        <pc:sldMkLst>
          <pc:docMk/>
          <pc:sldMk cId="0" sldId="263"/>
        </pc:sldMkLst>
        <pc:spChg chg="mod">
          <ac:chgData name="krishna wadekar" userId="a079281a13c2eb62" providerId="LiveId" clId="{FA81C554-9865-48CD-91EF-257899B63604}" dt="2026-02-01T10:02:19.510" v="56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2:27.930" v="57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2:56.982" v="75" actId="5793"/>
          <ac:spMkLst>
            <pc:docMk/>
            <pc:sldMk cId="0" sldId="263"/>
            <ac:spMk id="6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26:29.224" v="414"/>
        <pc:sldMkLst>
          <pc:docMk/>
          <pc:sldMk cId="0" sldId="264"/>
        </pc:sldMkLst>
        <pc:spChg chg="mod">
          <ac:chgData name="krishna wadekar" userId="a079281a13c2eb62" providerId="LiveId" clId="{FA81C554-9865-48CD-91EF-257899B63604}" dt="2026-02-01T10:03:08.617" v="76" actId="255"/>
          <ac:spMkLst>
            <pc:docMk/>
            <pc:sldMk cId="0" sldId="264"/>
            <ac:spMk id="2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28:32.637" v="440"/>
        <pc:sldMkLst>
          <pc:docMk/>
          <pc:sldMk cId="0" sldId="265"/>
        </pc:sldMkLst>
        <pc:spChg chg="mod">
          <ac:chgData name="krishna wadekar" userId="a079281a13c2eb62" providerId="LiveId" clId="{FA81C554-9865-48CD-91EF-257899B63604}" dt="2026-02-01T10:03:20.274" v="77" actId="255"/>
          <ac:spMkLst>
            <pc:docMk/>
            <pc:sldMk cId="0" sldId="265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26:57.073" v="418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27:37.196" v="432" actId="20577"/>
          <ac:spMkLst>
            <pc:docMk/>
            <pc:sldMk cId="0" sldId="265"/>
            <ac:spMk id="6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30:04.722" v="453"/>
        <pc:sldMkLst>
          <pc:docMk/>
          <pc:sldMk cId="0" sldId="266"/>
        </pc:sldMkLst>
        <pc:spChg chg="mod">
          <ac:chgData name="krishna wadekar" userId="a079281a13c2eb62" providerId="LiveId" clId="{FA81C554-9865-48CD-91EF-257899B63604}" dt="2026-02-01T10:03:51.595" v="78" actId="255"/>
          <ac:spMkLst>
            <pc:docMk/>
            <pc:sldMk cId="0" sldId="266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29:01.491" v="443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09:48:44.753" v="4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09:48:50.784" v="5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4:27.667" v="84" actId="14100"/>
          <ac:spMkLst>
            <pc:docMk/>
            <pc:sldMk cId="0" sldId="266"/>
            <ac:spMk id="9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09:48:18.180" v="0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4:39.617" v="87" actId="20577"/>
          <ac:spMkLst>
            <pc:docMk/>
            <pc:sldMk cId="0" sldId="266"/>
            <ac:spMk id="11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53:54.478" v="599"/>
        <pc:sldMkLst>
          <pc:docMk/>
          <pc:sldMk cId="0" sldId="267"/>
        </pc:sldMkLst>
        <pc:spChg chg="mod">
          <ac:chgData name="krishna wadekar" userId="a079281a13c2eb62" providerId="LiveId" clId="{FA81C554-9865-48CD-91EF-257899B63604}" dt="2026-02-01T10:04:58.004" v="88" actId="255"/>
          <ac:spMkLst>
            <pc:docMk/>
            <pc:sldMk cId="0" sldId="267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33:53.127" v="459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33:15.226" v="456" actId="1076"/>
          <ac:spMkLst>
            <pc:docMk/>
            <pc:sldMk cId="0" sldId="267"/>
            <ac:spMk id="5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38:02.380" v="478"/>
        <pc:sldMkLst>
          <pc:docMk/>
          <pc:sldMk cId="0" sldId="268"/>
        </pc:sldMkLst>
        <pc:spChg chg="mod">
          <ac:chgData name="krishna wadekar" userId="a079281a13c2eb62" providerId="LiveId" clId="{FA81C554-9865-48CD-91EF-257899B63604}" dt="2026-02-01T10:05:41.341" v="89" actId="255"/>
          <ac:spMkLst>
            <pc:docMk/>
            <pc:sldMk cId="0" sldId="268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36:56.553" v="469" actId="20577"/>
          <ac:spMkLst>
            <pc:docMk/>
            <pc:sldMk cId="0" sldId="268"/>
            <ac:spMk id="4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55:20.859" v="606"/>
        <pc:sldMkLst>
          <pc:docMk/>
          <pc:sldMk cId="0" sldId="269"/>
        </pc:sldMkLst>
        <pc:spChg chg="mod">
          <ac:chgData name="krishna wadekar" userId="a079281a13c2eb62" providerId="LiveId" clId="{FA81C554-9865-48CD-91EF-257899B63604}" dt="2026-02-01T10:05:54.145" v="90" actId="255"/>
          <ac:spMkLst>
            <pc:docMk/>
            <pc:sldMk cId="0" sldId="269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6:03.097" v="92" actId="14100"/>
          <ac:spMkLst>
            <pc:docMk/>
            <pc:sldMk cId="0" sldId="269"/>
            <ac:spMk id="3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5:59.519" v="91" actId="14100"/>
          <ac:spMkLst>
            <pc:docMk/>
            <pc:sldMk cId="0" sldId="269"/>
            <ac:spMk id="6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39:51.954" v="486" actId="14100"/>
          <ac:spMkLst>
            <pc:docMk/>
            <pc:sldMk cId="0" sldId="269"/>
            <ac:spMk id="9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55:06.498" v="603" actId="1076"/>
          <ac:spMkLst>
            <pc:docMk/>
            <pc:sldMk cId="0" sldId="269"/>
            <ac:spMk id="10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43:08.992" v="530"/>
        <pc:sldMkLst>
          <pc:docMk/>
          <pc:sldMk cId="0" sldId="270"/>
        </pc:sldMkLst>
        <pc:spChg chg="mod">
          <ac:chgData name="krishna wadekar" userId="a079281a13c2eb62" providerId="LiveId" clId="{FA81C554-9865-48CD-91EF-257899B63604}" dt="2026-02-01T10:07:18.554" v="102" actId="255"/>
          <ac:spMkLst>
            <pc:docMk/>
            <pc:sldMk cId="0" sldId="270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6:26.146" v="93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7:39.578" v="114" actId="20577"/>
          <ac:spMkLst>
            <pc:docMk/>
            <pc:sldMk cId="0" sldId="270"/>
            <ac:spMk id="7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7:02.781" v="100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6:31.196" v="94" actId="107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7:08.397" v="101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6:34.800" v="95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0:06:54.225" v="98" actId="14100"/>
          <ac:spMkLst>
            <pc:docMk/>
            <pc:sldMk cId="0" sldId="270"/>
            <ac:spMk id="15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45:55.045" v="554"/>
        <pc:sldMkLst>
          <pc:docMk/>
          <pc:sldMk cId="0" sldId="271"/>
        </pc:sldMkLst>
        <pc:spChg chg="mod">
          <ac:chgData name="krishna wadekar" userId="a079281a13c2eb62" providerId="LiveId" clId="{FA81C554-9865-48CD-91EF-257899B63604}" dt="2026-02-01T10:07:51.102" v="115" actId="255"/>
          <ac:spMkLst>
            <pc:docMk/>
            <pc:sldMk cId="0" sldId="271"/>
            <ac:spMk id="2" creationId="{00000000-0000-0000-0000-000000000000}"/>
          </ac:spMkLst>
        </pc:spChg>
        <pc:spChg chg="mod">
          <ac:chgData name="krishna wadekar" userId="a079281a13c2eb62" providerId="LiveId" clId="{FA81C554-9865-48CD-91EF-257899B63604}" dt="2026-02-01T13:44:31.189" v="540" actId="20577"/>
          <ac:spMkLst>
            <pc:docMk/>
            <pc:sldMk cId="0" sldId="271"/>
            <ac:spMk id="7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47:11.981" v="562"/>
        <pc:sldMkLst>
          <pc:docMk/>
          <pc:sldMk cId="0" sldId="272"/>
        </pc:sldMkLst>
        <pc:spChg chg="mod">
          <ac:chgData name="krishna wadekar" userId="a079281a13c2eb62" providerId="LiveId" clId="{FA81C554-9865-48CD-91EF-257899B63604}" dt="2026-02-01T10:08:06.766" v="116" actId="255"/>
          <ac:spMkLst>
            <pc:docMk/>
            <pc:sldMk cId="0" sldId="272"/>
            <ac:spMk id="2" creationId="{00000000-0000-0000-0000-000000000000}"/>
          </ac:spMkLst>
        </pc:spChg>
      </pc:sldChg>
      <pc:sldChg chg="modSp mod modAnim">
        <pc:chgData name="krishna wadekar" userId="a079281a13c2eb62" providerId="LiveId" clId="{FA81C554-9865-48CD-91EF-257899B63604}" dt="2026-02-01T13:47:56.025" v="570"/>
        <pc:sldMkLst>
          <pc:docMk/>
          <pc:sldMk cId="0" sldId="273"/>
        </pc:sldMkLst>
        <pc:spChg chg="mod">
          <ac:chgData name="krishna wadekar" userId="a079281a13c2eb62" providerId="LiveId" clId="{FA81C554-9865-48CD-91EF-257899B63604}" dt="2026-02-01T10:08:16.698" v="117" actId="255"/>
          <ac:spMkLst>
            <pc:docMk/>
            <pc:sldMk cId="0" sldId="273"/>
            <ac:spMk id="2" creationId="{00000000-0000-0000-0000-000000000000}"/>
          </ac:spMkLst>
        </pc:spChg>
      </pc:sldChg>
      <pc:sldChg chg="del">
        <pc:chgData name="krishna wadekar" userId="a079281a13c2eb62" providerId="LiveId" clId="{FA81C554-9865-48CD-91EF-257899B63604}" dt="2026-02-01T10:08:22.256" v="118" actId="2696"/>
        <pc:sldMkLst>
          <pc:docMk/>
          <pc:sldMk cId="0" sldId="274"/>
        </pc:sldMkLst>
      </pc:sldChg>
      <pc:sldChg chg="addSp modSp mod modAnim">
        <pc:chgData name="krishna wadekar" userId="a079281a13c2eb62" providerId="LiveId" clId="{FA81C554-9865-48CD-91EF-257899B63604}" dt="2026-02-01T13:48:25.656" v="572" actId="1076"/>
        <pc:sldMkLst>
          <pc:docMk/>
          <pc:sldMk cId="0" sldId="275"/>
        </pc:sldMkLst>
        <pc:spChg chg="mod">
          <ac:chgData name="krishna wadekar" userId="a079281a13c2eb62" providerId="LiveId" clId="{FA81C554-9865-48CD-91EF-257899B63604}" dt="2026-02-01T10:08:31.341" v="120" actId="1076"/>
          <ac:spMkLst>
            <pc:docMk/>
            <pc:sldMk cId="0" sldId="275"/>
            <ac:spMk id="4" creationId="{00000000-0000-0000-0000-000000000000}"/>
          </ac:spMkLst>
        </pc:spChg>
        <pc:spChg chg="add mod">
          <ac:chgData name="krishna wadekar" userId="a079281a13c2eb62" providerId="LiveId" clId="{FA81C554-9865-48CD-91EF-257899B63604}" dt="2026-02-01T13:48:25.656" v="572" actId="1076"/>
          <ac:spMkLst>
            <pc:docMk/>
            <pc:sldMk cId="0" sldId="275"/>
            <ac:spMk id="6" creationId="{36AD556D-573C-4E4D-E2BB-9D9BD85B6045}"/>
          </ac:spMkLst>
        </pc:spChg>
        <pc:picChg chg="add mod">
          <ac:chgData name="krishna wadekar" userId="a079281a13c2eb62" providerId="LiveId" clId="{FA81C554-9865-48CD-91EF-257899B63604}" dt="2026-02-01T13:48:25.656" v="572" actId="1076"/>
          <ac:picMkLst>
            <pc:docMk/>
            <pc:sldMk cId="0" sldId="275"/>
            <ac:picMk id="5" creationId="{590BDB97-EAE2-C6F4-94AC-67533187763F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907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Relationship Id="rId4" Type="http://schemas.openxmlformats.org/officeDocument/2006/relationships/hyperlink" Target="https://htnovo.blogspot.it/2017/08/youtube-nuovo-look-video.html" TargetMode="External"/><Relationship Id="rId5" Type="http://schemas.openxmlformats.org/officeDocument/2006/relationships/image" Target="../media/image2.png"/><Relationship Id="rId6" Type="http://schemas.openxmlformats.org/officeDocument/2006/relationships/hyperlink" Target="https://finosutra.com" TargetMode="External"/><Relationship Id="rId7" Type="http://schemas.openxmlformats.org/officeDocument/2006/relationships/hyperlink" Target="https://youtube.com/@cakrishnaswadekar07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hyperlink" Target="https://youtube.com/@cakrishnaswadekar07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gif"/><Relationship Id="rId4" Type="http://schemas.openxmlformats.org/officeDocument/2006/relationships/hyperlink" Target="https://htnovo.blogspot.it/2017/08/youtube-nuovo-look-video.html" TargetMode="External"/><Relationship Id="rId5" Type="http://schemas.openxmlformats.org/officeDocument/2006/relationships/image" Target="../media/image2.png"/><Relationship Id="rId6" Type="http://schemas.openxmlformats.org/officeDocument/2006/relationships/hyperlink" Target="https://finosutra.com" TargetMode="External"/><Relationship Id="rId7" Type="http://schemas.openxmlformats.org/officeDocument/2006/relationships/hyperlink" Target="https://youtube.com/@cakrishnaswadekar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741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 AS 117 / IFRS 17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Contracts Explained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 b="1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Revolutionary Accounting Standard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34033" y="3429737"/>
            <a:ext cx="2743200" cy="1371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99FC6C-C2E5-3448-1DFD-3FC70C361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001" t="28927" r="8583" b="28365"/>
          <a:stretch>
            <a:fillRect/>
          </a:stretch>
        </p:blipFill>
        <p:spPr>
          <a:xfrm>
            <a:off x="2952401" y="4019420"/>
            <a:ext cx="1176013" cy="338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63F551-0D5C-5D6C-8A92-51737E9AF1AE}"/>
              </a:ext>
            </a:extLst>
          </p:cNvPr>
          <p:cNvSpPr txBox="1"/>
          <p:nvPr/>
        </p:nvSpPr>
        <p:spPr>
          <a:xfrm>
            <a:off x="4211574" y="4011725"/>
            <a:ext cx="2149974" cy="338554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4B5FD"/>
                </a:solidFill>
              </a:rPr>
              <a:t>Like, Share &amp; Subscribe</a:t>
            </a:r>
            <a:endParaRPr lang="en-IN" sz="1600" b="1" dirty="0"/>
          </a:p>
        </p:txBody>
      </p:sp>
      <p:sp>
        <p:nvSpPr>
          <p:cNvPr id="29" name="Rectangle 28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u="none">
                <a:solidFill>
                  <a:srgbClr val="7C3AED"/>
                </a:solidFill>
                <a:hlinkClick r:id="rId6"/>
              </a:rPr>
              <a:t>finosutra.com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7"/>
              </a:rPr>
              <a:t>@cakrishnaswadekar07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Should You Care About IFRS 17?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4151"/>
                </a:solidFill>
              </a:rPr>
              <a:t>The Biggest Change in Insurance Accounting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Think of it like this: Before IFRS 17, insurance companies could report their numbers in hundreds of different ways. It was like everyone using a different language to describe the same thing!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74151"/>
                </a:solidFill>
              </a:rPr>
              <a:t>What Changed?</a:t>
            </a:r>
            <a:endParaRPr lang="en-US" sz="1800" dirty="0"/>
          </a:p>
          <a:p>
            <a:pPr>
              <a:buSzPct val="100000"/>
            </a:pPr>
            <a:r>
              <a:rPr lang="en-US" sz="1400" dirty="0">
                <a:solidFill>
                  <a:srgbClr val="374151"/>
                </a:solidFill>
              </a:rPr>
              <a:t>• Companies can't hide bad news in future years anymore</a:t>
            </a:r>
            <a:endParaRPr lang="en-US" sz="1800" dirty="0"/>
          </a:p>
          <a:p>
            <a:pPr>
              <a:buSzPct val="100000"/>
            </a:pPr>
            <a:r>
              <a:rPr lang="en-US" sz="1400" dirty="0">
                <a:solidFill>
                  <a:srgbClr val="374151"/>
                </a:solidFill>
              </a:rPr>
              <a:t>• Everything is measured at current value, not old historical costs</a:t>
            </a:r>
            <a:endParaRPr lang="en-US" sz="1800" dirty="0"/>
          </a:p>
          <a:p>
            <a:pPr>
              <a:buSzPct val="100000"/>
            </a:pPr>
            <a:r>
              <a:rPr lang="en-US" sz="1400" dirty="0">
                <a:solidFill>
                  <a:srgbClr val="374151"/>
                </a:solidFill>
              </a:rPr>
              <a:t>• Investors can actually compare different insurance companies</a:t>
            </a:r>
            <a:endParaRPr lang="en-US" sz="1800" dirty="0"/>
          </a:p>
          <a:p>
            <a:pPr>
              <a:buSzPct val="100000"/>
            </a:pPr>
            <a:r>
              <a:rPr lang="en-US" sz="1400" dirty="0">
                <a:solidFill>
                  <a:srgbClr val="374151"/>
                </a:solidFill>
              </a:rPr>
              <a:t>• Effective from January 1, 2023 (India: Not notified yet by MCA)</a:t>
            </a:r>
            <a:endParaRPr lang="en-US" sz="1800" dirty="0"/>
          </a:p>
        </p:txBody>
      </p:sp>
      <p:sp>
        <p:nvSpPr>
          <p:cNvPr id="43" name="Rectangle 42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2  /  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We Had Before IFRS 17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3474720" cy="2286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2801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</a:rPr>
              <a:t>❌ The Old Way (IFRS 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Company A sells a policy for ₹1,00,000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Shows profit: ₹30,000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Company B sells SAME policy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Shows profit: ₹15,000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</a:rPr>
              <a:t>Both are 'correct' under old rules!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474720" cy="2286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54880" y="1188720"/>
            <a:ext cx="73152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18872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</a:rPr>
              <a:t>✓ The New Way (IFRS 17)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Both companies use:</a:t>
            </a:r>
            <a:endParaRPr lang="en-US" sz="1600" dirty="0"/>
          </a:p>
          <a:p>
            <a:pPr>
              <a:buSzPct val="100000"/>
            </a:pPr>
            <a:r>
              <a:rPr lang="en-US" sz="1200" dirty="0">
                <a:solidFill>
                  <a:srgbClr val="374151"/>
                </a:solidFill>
              </a:rPr>
              <a:t>• Same measurement method</a:t>
            </a:r>
            <a:endParaRPr lang="en-US" sz="1600" dirty="0"/>
          </a:p>
          <a:p>
            <a:pPr>
              <a:buSzPct val="100000"/>
            </a:pPr>
            <a:r>
              <a:rPr lang="en-US" sz="1200" dirty="0">
                <a:solidFill>
                  <a:srgbClr val="374151"/>
                </a:solidFill>
              </a:rPr>
              <a:t>• Current market assumptions</a:t>
            </a:r>
            <a:endParaRPr lang="en-US" sz="1600" dirty="0"/>
          </a:p>
          <a:p>
            <a:pPr>
              <a:buSzPct val="100000"/>
            </a:pPr>
            <a:r>
              <a:rPr lang="en-US" sz="1200" dirty="0">
                <a:solidFill>
                  <a:srgbClr val="374151"/>
                </a:solidFill>
              </a:rPr>
              <a:t>• Time value of money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Result: Comparable numbers!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74151"/>
                </a:solidFill>
              </a:rPr>
              <a:t>Imagine comparing two phones where one company measures screen size in inches and the other in centimeters - that was insurance accounting before IFRS 17!</a:t>
            </a:r>
            <a:endParaRPr lang="en-US" sz="1300" dirty="0"/>
          </a:p>
        </p:txBody>
      </p:sp>
      <p:sp>
        <p:nvSpPr>
          <p:cNvPr id="81" name="Rectangle 8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3  /  19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IFRS 17 Cover?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4151"/>
                </a:solidFill>
              </a:rPr>
              <a:t>✓ INCLUDED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Life Insurance</a:t>
            </a:r>
            <a:endParaRPr lang="en-US" sz="1400" dirty="0"/>
          </a:p>
          <a:p>
            <a:pPr marL="0" lvl="1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All life policies, term plans, ULIPs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General Insurance</a:t>
            </a:r>
            <a:endParaRPr lang="en-US" sz="1400" dirty="0"/>
          </a:p>
          <a:p>
            <a:pPr marL="0" lvl="1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Health, motor, property, liability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Reinsurance Contracts</a:t>
            </a:r>
            <a:endParaRPr lang="en-US" sz="1400" dirty="0"/>
          </a:p>
          <a:p>
            <a:pPr marL="0" lvl="1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Both issued and held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Investment Contracts with DPF</a:t>
            </a:r>
            <a:endParaRPr lang="en-US" sz="1400" dirty="0"/>
          </a:p>
          <a:p>
            <a:pPr marL="0" lvl="1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Discretionary Participation Features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4151"/>
                </a:solidFill>
              </a:rPr>
              <a:t>❌ EXCLUDED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Product Warranties</a:t>
            </a:r>
            <a:endParaRPr lang="en-US" sz="1400" dirty="0"/>
          </a:p>
          <a:p>
            <a:pPr marL="0" lvl="1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Covered under IAS 37 or IFRS 15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Employer Benefit Plans</a:t>
            </a:r>
            <a:endParaRPr lang="en-US" sz="1400" dirty="0"/>
          </a:p>
          <a:p>
            <a:pPr marL="0" lvl="1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Like provident fund, gratuity (IAS 19)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Pure Investment Products</a:t>
            </a:r>
            <a:endParaRPr lang="en-US" sz="1400" dirty="0"/>
          </a:p>
          <a:p>
            <a:pPr marL="0" lvl="1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No insurance risk, only investment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Fixed-Fee Service Contracts</a:t>
            </a:r>
            <a:endParaRPr lang="en-US" sz="1400" dirty="0"/>
          </a:p>
          <a:p>
            <a:pPr marL="0" lvl="1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No insurance risk transfer</a:t>
            </a:r>
            <a:endParaRPr lang="en-US" sz="1400" dirty="0"/>
          </a:p>
        </p:txBody>
      </p:sp>
      <p:sp>
        <p:nvSpPr>
          <p:cNvPr id="77" name="Rectangle 76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4  /  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Ways to Measure Insurance Contracts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91400" y="118429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</a:rPr>
              <a:t>1. General Model (GMM)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For: Long-term contracts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(Life insurance)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Most complex method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Includes:</a:t>
            </a:r>
            <a:endParaRPr lang="en-US" sz="1200" dirty="0"/>
          </a:p>
          <a:p>
            <a:pPr>
              <a:buSzPct val="100000"/>
            </a:pPr>
            <a:r>
              <a:rPr lang="en-US" sz="1000" dirty="0">
                <a:solidFill>
                  <a:srgbClr val="374151"/>
                </a:solidFill>
              </a:rPr>
              <a:t>• Future cash flows</a:t>
            </a:r>
            <a:endParaRPr lang="en-US" sz="1200" dirty="0"/>
          </a:p>
          <a:p>
            <a:pPr>
              <a:buSzPct val="100000"/>
            </a:pPr>
            <a:r>
              <a:rPr lang="en-US" sz="1000" dirty="0">
                <a:solidFill>
                  <a:srgbClr val="374151"/>
                </a:solidFill>
              </a:rPr>
              <a:t>• Discount rates</a:t>
            </a:r>
            <a:endParaRPr lang="en-US" sz="1200" dirty="0"/>
          </a:p>
          <a:p>
            <a:pPr>
              <a:buSzPct val="100000"/>
            </a:pPr>
            <a:r>
              <a:rPr lang="en-US" sz="1000" dirty="0">
                <a:solidFill>
                  <a:srgbClr val="374151"/>
                </a:solidFill>
              </a:rPr>
              <a:t>• Risk adjustment</a:t>
            </a:r>
            <a:endParaRPr lang="en-US" sz="1200" dirty="0"/>
          </a:p>
          <a:p>
            <a:pPr>
              <a:buSzPct val="100000"/>
            </a:pPr>
            <a:r>
              <a:rPr lang="en-US" sz="1000" dirty="0">
                <a:solidFill>
                  <a:srgbClr val="374151"/>
                </a:solidFill>
              </a:rPr>
              <a:t>• CSM (profit margin)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00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180320" y="1169547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</a:rPr>
              <a:t>2. PAA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For: Short-term contracts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(Health, motor, ≤12 months)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Simplified approach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Like unearned premium:</a:t>
            </a:r>
            <a:endParaRPr lang="en-US" sz="1200" dirty="0"/>
          </a:p>
          <a:p>
            <a:pPr>
              <a:buSzPct val="100000"/>
            </a:pPr>
            <a:r>
              <a:rPr lang="en-US" sz="1000" dirty="0">
                <a:solidFill>
                  <a:srgbClr val="374151"/>
                </a:solidFill>
              </a:rPr>
              <a:t>• Collect ₹12,000 premium</a:t>
            </a:r>
            <a:endParaRPr lang="en-US" sz="1200" dirty="0"/>
          </a:p>
          <a:p>
            <a:pPr>
              <a:buSzPct val="100000"/>
            </a:pPr>
            <a:r>
              <a:rPr lang="en-US" sz="1000" dirty="0">
                <a:solidFill>
                  <a:srgbClr val="374151"/>
                </a:solidFill>
              </a:rPr>
              <a:t>• Recognize ₹1,000/month</a:t>
            </a:r>
            <a:endParaRPr lang="en-US" sz="1200" dirty="0"/>
          </a:p>
          <a:p>
            <a:pPr>
              <a:buSzPct val="100000"/>
            </a:pPr>
            <a:r>
              <a:rPr lang="en-US" sz="1000" dirty="0">
                <a:solidFill>
                  <a:srgbClr val="374151"/>
                </a:solidFill>
              </a:rPr>
              <a:t>• Much simpler!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00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6368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</a:rPr>
              <a:t>3. VFA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17830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For: Participation contracts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(ULIPs, with-profit policies)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Customer shares in returns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Example: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Your money grows with fund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Fund up 20% = Your value up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Modified GMM approach</a:t>
            </a:r>
            <a:endParaRPr lang="en-US" sz="1200" dirty="0"/>
          </a:p>
        </p:txBody>
      </p:sp>
      <p:sp>
        <p:nvSpPr>
          <p:cNvPr id="112" name="Rectangle 111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5  /  19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Building Blocks of GMM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b="1">
                <a:solidFill>
                  <a:srgbClr val="1E1B4B"/>
                </a:solidFill>
              </a:rPr>
              <a:t>Think of it like building a house - you need all these pieces: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0972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1️⃣ Future Cash Flows (FCF)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All money coming in and going out over policy lifetime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0972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2️⃣ Discount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Today's value of future money (time value)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3️⃣ Risk Adjustment (RA)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Extra buffer for uncertainty (things might go wrong)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10972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4️⃣ CSM (Profit Margin)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Unearned profit - released over time as service provided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B5FD"/>
                </a:solidFill>
              </a:rPr>
              <a:t>Liability = FCF + Discount + Risk Adjustment + CSM</a:t>
            </a:r>
            <a:endParaRPr lang="en-US" sz="1800" dirty="0"/>
          </a:p>
        </p:txBody>
      </p:sp>
      <p:sp>
        <p:nvSpPr>
          <p:cNvPr id="57" name="Rectangle 56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6  /  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Example: Life Insurance Policy (GMM)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📋 Policy Details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Premium: ₹1,00,000/year for 10 years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Sum Assured: ₹25,00,000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Policy Term: 20 years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Age: 30 years old, healthy male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💰 Calculation at Day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Future Cash Inflows: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₹10,00,000 (10 yrs × ₹1L)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Future Cash Outflows: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Expected claims: ₹6,50,000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Expenses: ₹1,20,000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🧮 Building Block Values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691640"/>
            <a:ext cx="356616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PV of Cash Flows:</a:t>
            </a:r>
            <a:r>
              <a:rPr lang="en-US" sz="1100" dirty="0">
                <a:solidFill>
                  <a:srgbClr val="C4B5FD"/>
                </a:solidFill>
              </a:rPr>
              <a:t> ₹2,30,000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240280"/>
            <a:ext cx="356616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Risk Adjustment:</a:t>
            </a:r>
            <a:r>
              <a:rPr lang="en-US" sz="1100" dirty="0">
                <a:solidFill>
                  <a:srgbClr val="C4B5FD"/>
                </a:solidFill>
              </a:rPr>
              <a:t> + ₹35,000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788920"/>
            <a:ext cx="356616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0" y="2880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CSM (Expected Profit):</a:t>
            </a:r>
            <a:r>
              <a:rPr lang="en-US" sz="1100" dirty="0">
                <a:solidFill>
                  <a:srgbClr val="C4B5FD"/>
                </a:solidFill>
              </a:rPr>
              <a:t> + ₹65,000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429000"/>
            <a:ext cx="3566160" cy="5486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</a:rPr>
              <a:t>Total Liability:</a:t>
            </a:r>
            <a:r>
              <a:rPr lang="en-US" sz="1300" b="1" dirty="0">
                <a:solidFill>
                  <a:srgbClr val="C4B5FD"/>
                </a:solidFill>
              </a:rPr>
              <a:t> ₹3,30,000</a:t>
            </a:r>
            <a:endParaRPr lang="en-US" sz="1300" dirty="0"/>
          </a:p>
        </p:txBody>
      </p:sp>
      <p:sp>
        <p:nvSpPr>
          <p:cNvPr id="94" name="Rectangle 93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7  /  19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CSM: Your Profit Locked in a Time Vault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114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b="1">
                <a:solidFill>
                  <a:srgbClr val="1E1B4B"/>
                </a:solidFill>
              </a:rPr>
              <a:t>Contractual Service Margin = Future profit you EARNED but can't recognize yet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89649"/>
            <a:ext cx="8229600" cy="5486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681089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</a:rPr>
              <a:t>Why can't we recognize profit immediately?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</a:rPr>
              <a:t>Simple Analogy: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</a:rPr>
              <a:t>You run a gym. Someone pays ₹12,000 for a 1-year membership on January 1st.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4B5FD"/>
                </a:solidFill>
              </a:rPr>
              <a:t>Can you say you earned all ₹12,000 profit on Day 1? NO!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</a:rPr>
              <a:t>Why? Because you still have to provide gym access for 12 months.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</a:rPr>
              <a:t>Same with Insurance: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4B5FD"/>
                </a:solidFill>
              </a:rPr>
              <a:t>Premium received on Day 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4B5FD"/>
                </a:solidFill>
              </a:rPr>
              <a:t>But insurance coverage provided over 20 years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4B5FD"/>
                </a:solidFill>
              </a:rPr>
              <a:t>CSM releases profit gradually as coverage is provided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C4B5FD"/>
                </a:solidFill>
              </a:rPr>
              <a:t>This prevents companies from showing fake profits upfront!</a:t>
            </a:r>
            <a:endParaRPr lang="en-US" sz="1300" dirty="0"/>
          </a:p>
        </p:txBody>
      </p:sp>
      <p:sp>
        <p:nvSpPr>
          <p:cNvPr id="57" name="Rectangle 56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8  /  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018585" cy="457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CSM Gets Released Over Time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</a:rPr>
              <a:t>📊 Example: ₹60,000 CSM over 20-year policy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463040"/>
          <a:ext cx="6400800" cy="2285997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Coverage Units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CSM Released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Remaining CSM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₹25,00,000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₹3,000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₹57,000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₹25,00,000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₹3,000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₹54,000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₹25,00,000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₹3,000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₹45,000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₹25,00,000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₹3,000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₹30,000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₹25,00,000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₹3,000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₹15,000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₹25,00,000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₹3,000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3931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</a:rPr>
              <a:t>Key Point: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Each year, as the company provides insurance coverage (service), it 'earns' ₹3,000 of profit. This makes financial statements reflect reality - profit is recognized as service is delivered, not when cash is received!</a:t>
            </a:r>
            <a:endParaRPr lang="en-US" sz="1300" dirty="0"/>
          </a:p>
        </p:txBody>
      </p:sp>
      <p:sp>
        <p:nvSpPr>
          <p:cNvPr id="18" name="Rectangle 17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9  /  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 Allocation Approach (PAA)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b="1">
                <a:solidFill>
                  <a:srgbClr val="1E1B4B"/>
                </a:solidFill>
              </a:rPr>
              <a:t>The simplified method for short-term contracts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✓ When Can You Use PAA?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Coverage period ≤ 12 months</a:t>
            </a:r>
            <a:endParaRPr lang="en-US" sz="1200" dirty="0"/>
          </a:p>
          <a:p>
            <a:pPr marL="0" lvl="1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Annual car insurance ✓</a:t>
            </a:r>
            <a:endParaRPr lang="en-US" sz="1200" dirty="0"/>
          </a:p>
          <a:p>
            <a:pPr marL="0" lvl="1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Annual health insurance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OR result approximates GMM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Benefits: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Much simpler calculations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Less data requirements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Lower implementation costs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Faster month-end close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5F3FF"/>
          </a:solidFill>
          <a:ln w="25400">
            <a:noFill/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📝 Simple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</a:rPr>
              <a:t>Motor Insurance Policy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Premium: ₹24,000 (1 year)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Policy starts: January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Recognition: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Jan 1: Receive ₹24,000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Jan 31: Earn ₹2,000 (1/12)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Feb 28: Earn ₹2,000 (1/12)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... continues monthly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Dec 31: Earn ₹2,000 (1/12)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Unearned premium reduces each month as coverage is provided!</a:t>
            </a:r>
            <a:endParaRPr lang="en-US" sz="1300" dirty="0"/>
          </a:p>
        </p:txBody>
      </p:sp>
      <p:sp>
        <p:nvSpPr>
          <p:cNvPr id="101" name="Rectangle 10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10  /  19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Onerous Contracts: When Things Go Wrong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b="1">
                <a:solidFill>
                  <a:srgbClr val="1E1B4B"/>
                </a:solidFill>
              </a:rPr>
              <a:t>Onerous = Loss-making contract where claims will exceed premiums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</a:rPr>
              <a:t>⚠️ Real Example:</a:t>
            </a:r>
            <a:r>
              <a:rPr lang="en-US" sz="1200" dirty="0">
                <a:solidFill>
                  <a:srgbClr val="C4B5FD"/>
                </a:solidFill>
              </a:rPr>
              <a:t> Health insurance during pandemic - claims skyrocketed way beyond premiums collected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1" y="2194559"/>
            <a:ext cx="3931920" cy="2693963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📊 The Numbers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75914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Health Policy Sold (Pre-Covid):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Expected claims: ₹8,00,000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Premiums: ₹10,00,000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Expected profit: ₹2,00,000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After Covid Wave: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Revised expected claims: ₹15,00,000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Premiums (unchanged): ₹10,00,000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374151"/>
                </a:solidFill>
              </a:rPr>
              <a:t>Expected LOSS: ₹5,00,000 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3931920" cy="269396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🔧 Accounting Treatment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743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Step 1: Recognize Loss Immediately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No hiding it in future years!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CSM = 0 (wiped out first)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Loss component = ₹5,00,000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Show in P&amp;L immediately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Step 2: Update Over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Reversal if conditions improve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Why This Matters: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Investors see the bad news NOW, not spread over future years. This is transparency!</a:t>
            </a:r>
            <a:endParaRPr lang="en-US" sz="1200" dirty="0"/>
          </a:p>
        </p:txBody>
      </p:sp>
      <p:sp>
        <p:nvSpPr>
          <p:cNvPr id="93" name="Rectangle 92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11  /  19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Discount Rates: Time Value of Money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b="1">
                <a:solidFill>
                  <a:srgbClr val="1E1B4B"/>
                </a:solidFill>
              </a:rPr>
              <a:t>₹100 today ≠ ₹100 in 10 years. We need to adjust for this!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🤔 Simple 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Would you rather have: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Option A: ₹10,000 today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Option B: ₹10,000 after 5 years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Obviously A! Because: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You could invest ₹10,000 today and have ₹15,000 in 5 years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💡 Insurance Application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Claim of ₹25,00,000 expected in Year 15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Present Value (at 7% discount):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= ₹25,00,000 ÷ (1.07)^15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= ₹9,05,000 (approx)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So we set aside ₹9L today, not ₹25L!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📌 What Rate to Use?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Top-down approach:</a:t>
            </a:r>
            <a:r>
              <a:rPr lang="en-US" sz="1100" dirty="0">
                <a:solidFill>
                  <a:srgbClr val="374151"/>
                </a:solidFill>
              </a:rPr>
              <a:t> Start with current market rates (G-Sec yields) + adjustments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Bottom-up approach:</a:t>
            </a:r>
            <a:r>
              <a:rPr lang="en-US" sz="1100" dirty="0">
                <a:solidFill>
                  <a:srgbClr val="374151"/>
                </a:solidFill>
              </a:rPr>
              <a:t> Start with risk-free rate + liquidity premium + other factors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Must reflect characteristics of insurance liabilities - not company's own credit risk!</a:t>
            </a:r>
            <a:endParaRPr lang="en-US" sz="1200" dirty="0"/>
          </a:p>
        </p:txBody>
      </p:sp>
      <p:sp>
        <p:nvSpPr>
          <p:cNvPr id="90" name="Rectangle 89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12  /  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Adjustment: The Uncertainty Buffer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b="1">
                <a:solidFill>
                  <a:srgbClr val="1E1B4B"/>
                </a:solidFill>
              </a:rPr>
              <a:t>Extra cushion for the fact that insurance is unpredictable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🎯 What Is It?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The compensation for bearing uncertainty about: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Amount of claims</a:t>
            </a:r>
            <a:endParaRPr lang="en-US" sz="1200" dirty="0"/>
          </a:p>
          <a:p>
            <a:pPr marL="0" lvl="1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Will it be ₹5L or ₹8L?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Timing of claims</a:t>
            </a:r>
            <a:endParaRPr lang="en-US" sz="1200" dirty="0"/>
          </a:p>
          <a:p>
            <a:pPr marL="0" lvl="1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Will it happen in Year 3 or Year 8?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Think of it like: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When you pack for a trip, you bring extra clothes 'just in case'. Same idea here - the Risk Adjustment is the 'just in case' money.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📊 Calculation Methods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</a:rPr>
              <a:t>Confidence Level Technique</a:t>
            </a:r>
            <a:endParaRPr lang="en-US" sz="1200" dirty="0"/>
          </a:p>
          <a:p>
            <a:pPr marL="0" lvl="1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"75% confident claims won't exceed X"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</a:rPr>
              <a:t>Cost of Capital</a:t>
            </a:r>
            <a:endParaRPr lang="en-US" sz="1200" dirty="0"/>
          </a:p>
          <a:p>
            <a:pPr marL="0" lvl="1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Based on how much capital is tied 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Example Numbers: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Expected claims: ₹10,00,000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Risk Adjustment: +₹1,50,000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Total liability: ₹11,50,000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Higher uncertainty = Higher RA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As time passes &amp; uncertainty reduces, RA decreases</a:t>
            </a:r>
            <a:endParaRPr lang="en-US" sz="1200" dirty="0"/>
          </a:p>
        </p:txBody>
      </p:sp>
      <p:sp>
        <p:nvSpPr>
          <p:cNvPr id="95" name="Rectangle 94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13  /  19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Shows Up in Financial Statements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📊 Balance Sheet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Insurance Contract Liabilities: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Liability for remaining coverage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Liability for incurred claims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Shown separately from other liabilities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💰 Income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Insurance Revenue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Premium earned + CSM released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Insurance Service Expense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Claims + expenses + RA changes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= Insurance Service 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9741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</a:rPr>
              <a:t>📋 Sample P&amp;L Extract (Simplified)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3291840"/>
          <a:ext cx="5486400" cy="17221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Amount (₹ Lakhs)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Insurance Revenue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8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Insurance Service Expense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(620)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8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Insurance Service Result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230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8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Investment Income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8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Finance Expense on Insurance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(25)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8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Net Profit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2" name="Rectangle 71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14  /  19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Transition: Moving from Old to New Standard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b="1">
                <a:solidFill>
                  <a:srgbClr val="1E1B4B"/>
                </a:solidFill>
              </a:rPr>
              <a:t>How do you restate years of old accounting to the new standard?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3200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00929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</a:rPr>
              <a:t>Full Retrospective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The Gold Standard: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Recalculate everything as if IFRS 17 always existed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Pros: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Most accurate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Fully comparable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Cons: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Massive effort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Need old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Very expensive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743200" cy="3200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29000" y="1371600"/>
            <a:ext cx="27432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290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</a:rPr>
              <a:t>Modified Retrospective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7602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The Practical Approach: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Use simplified methods and proxies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When to use: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When full retrospective is impracticable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Example: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C4B5FD"/>
                </a:solidFill>
              </a:rPr>
              <a:t>Estimate CSM using current assumptions instead of inception assumptions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2286000" cy="3200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B5FD"/>
                </a:solidFill>
              </a:rPr>
              <a:t>Fair Value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7621" y="1529861"/>
            <a:ext cx="20116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Last Resort: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When even modified doesn't work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Use market value at transition 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C4B5FD"/>
                </a:solidFill>
              </a:rPr>
              <a:t>CSM = zero at transition</a:t>
            </a:r>
            <a:endParaRPr lang="en-US" sz="1100" dirty="0"/>
          </a:p>
        </p:txBody>
      </p:sp>
      <p:sp>
        <p:nvSpPr>
          <p:cNvPr id="122" name="Rectangle 121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15  /  19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0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Challenges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b="1">
                <a:solidFill>
                  <a:srgbClr val="1E1B4B"/>
                </a:solidFill>
              </a:rPr>
              <a:t>Why this is one of the toughest accounting standards ever!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💻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Legacy systems can't handle 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Need new actuarial software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Massive data requirements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Integration nightmares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374151"/>
                </a:solidFill>
              </a:rPr>
              <a:t>Cost: ₹50-500 Cr for large insurers!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👥 People &amp; Processes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Actuaries need retraining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Accountants need actuarial knowledge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New controls and processes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Month-end close takes longer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374151"/>
                </a:solidFill>
              </a:rPr>
              <a:t>Talent shortage is REAL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931920" cy="13716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📊 Data Quality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Historical data incomplete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Need policy-level granularity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Cash flow projections complex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Multiple data sources to reconcile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3931920" cy="13716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77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🎯 Business Impact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KPIs change completely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Investor communication challenge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Product pricing may need revision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Management reporting overhaul</a:t>
            </a:r>
            <a:endParaRPr lang="en-US" sz="1100" dirty="0"/>
          </a:p>
        </p:txBody>
      </p:sp>
      <p:sp>
        <p:nvSpPr>
          <p:cNvPr id="133" name="Rectangle 132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16  /  19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1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Go Through All This Pain?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b="1">
                <a:solidFill>
                  <a:srgbClr val="1E1B4B"/>
                </a:solidFill>
              </a:rPr>
              <a:t>The benefits that make it worthwhile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46304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</a:rPr>
              <a:t>✓ Comparability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Compare LIC vs HDFC Life vs Max Life on equal footing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Compare across countries too!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0" y="1371600"/>
            <a:ext cx="73152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83480" y="146304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</a:rPr>
              <a:t>✓ Transparency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Investors can see true performance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No more hiding losses in future years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</a:rPr>
              <a:t>✓ Better Risk Management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Forces companies to measure and manage risks properly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Regular updates to assumptions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Early warning of problems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73152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8348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</a:rPr>
              <a:t>✓ Realistic Profits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Profit recognized as service delivered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Current values, not outdated historical costs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Reflects economic reality</a:t>
            </a:r>
            <a:endParaRPr lang="en-US" sz="1400" dirty="0"/>
          </a:p>
        </p:txBody>
      </p:sp>
      <p:sp>
        <p:nvSpPr>
          <p:cNvPr id="52" name="Rectangle 51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17  /  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</a:rPr>
              <a:t>1</a:t>
            </a:r>
            <a:r>
              <a:rPr lang="en-US" sz="1400" b="1" dirty="0">
                <a:solidFill>
                  <a:srgbClr val="1E1B4B"/>
                </a:solidFill>
              </a:rPr>
              <a:t>  IFRS 17 is about matching profit recognition with service delivery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b="1">
                <a:solidFill>
                  <a:srgbClr val="1E1B4B"/>
                </a:solidFill>
              </a:rPr>
              <a:t>No more front-loading profits or hiding losses in future years. Everything at current value.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</a:rPr>
              <a:t>2</a:t>
            </a:r>
            <a:r>
              <a:rPr lang="en-US" sz="1400" b="1" dirty="0">
                <a:solidFill>
                  <a:srgbClr val="1E1B4B"/>
                </a:solidFill>
              </a:rPr>
              <a:t>  Three measurement models for different contract types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b="1">
                <a:solidFill>
                  <a:srgbClr val="1E1B4B"/>
                </a:solidFill>
              </a:rPr>
              <a:t>GMM for complex long-term, PAA for simple short-term, VFA for participation contracts.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</a:rPr>
              <a:t>3</a:t>
            </a:r>
            <a:r>
              <a:rPr lang="en-US" sz="1400" b="1" dirty="0">
                <a:solidFill>
                  <a:srgbClr val="1E1B4B"/>
                </a:solidFill>
              </a:rPr>
              <a:t>  Building blocks: FCF + Discount + Risk Adjustment + CSM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b="1">
                <a:solidFill>
                  <a:srgbClr val="1E1B4B"/>
                </a:solidFill>
              </a:rPr>
              <a:t>Each component serves a specific purpose in measuring insurance liability accurately.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</a:rPr>
              <a:t>4</a:t>
            </a:r>
            <a:r>
              <a:rPr lang="en-US" sz="1400" b="1" dirty="0">
                <a:solidFill>
                  <a:srgbClr val="1E1B4B"/>
                </a:solidFill>
              </a:rPr>
              <a:t>  Massive implementation effort but worth it for transparency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b="1">
                <a:solidFill>
                  <a:srgbClr val="1E1B4B"/>
                </a:solidFill>
              </a:rPr>
              <a:t>Technology, people, processes all need transformation. But investors finally get comparable numbers.</a:t>
            </a:r>
            <a:endParaRPr lang="en-US" sz="1200" dirty="0"/>
          </a:p>
        </p:txBody>
      </p:sp>
      <p:sp>
        <p:nvSpPr>
          <p:cNvPr id="43" name="Rectangle 42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B7280"/>
                </a:solidFill>
              </a:rPr>
              <a:t>18  /  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4"/>
              </a:rPr>
              <a:t>@cakrishnaswadekar07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741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for more accounting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223260"/>
            <a:ext cx="2743200" cy="1371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/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BDB97-EAE2-C6F4-94AC-675331877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001" t="28927" r="8583" b="28365"/>
          <a:stretch>
            <a:fillRect/>
          </a:stretch>
        </p:blipFill>
        <p:spPr>
          <a:xfrm>
            <a:off x="2869241" y="3790820"/>
            <a:ext cx="1176013" cy="3385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AD556D-573C-4E4D-E2BB-9D9BD85B6045}"/>
              </a:ext>
            </a:extLst>
          </p:cNvPr>
          <p:cNvSpPr txBox="1"/>
          <p:nvPr/>
        </p:nvSpPr>
        <p:spPr>
          <a:xfrm>
            <a:off x="4128414" y="3783125"/>
            <a:ext cx="2149974" cy="338554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4B5FD"/>
                </a:solidFill>
              </a:rPr>
              <a:t>Like, Share &amp; Subscribe</a:t>
            </a:r>
            <a:endParaRPr lang="en-IN" sz="1600" b="1" dirty="0"/>
          </a:p>
        </p:txBody>
      </p:sp>
      <p:sp>
        <p:nvSpPr>
          <p:cNvPr id="11" name="Rectangle 1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FAFAFF"/>
          </a:solidFill>
          <a:ln w="6350">
            <a:solidFill>
              <a:srgbClr val="E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" y="4796028"/>
            <a:ext cx="822960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31920" y="4759452"/>
            <a:ext cx="128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u="none">
                <a:solidFill>
                  <a:srgbClr val="7C3AED"/>
                </a:solidFill>
                <a:hlinkClick r:id="rId6"/>
              </a:rPr>
              <a:t>finosutra.com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786884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1E1B4B"/>
                </a:solidFill>
              </a:rPr>
              <a:t>CA Krishna Wadekar</a:t>
            </a:r>
          </a:p>
          <a:p>
            <a:pPr algn="r"/>
            <a:r>
              <a:rPr sz="700" u="none">
                <a:solidFill>
                  <a:srgbClr val="7C3AED"/>
                </a:solidFill>
                <a:hlinkClick r:id="rId7"/>
              </a:rPr>
              <a:t>@cakrishnaswadekar07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1950</Words>
  <Application>Microsoft Office PowerPoint</Application>
  <PresentationFormat>On-screen Show (16:9)</PresentationFormat>
  <Paragraphs>412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 AS 117 / IFRS 17 - Insurance Contracts</dc:title>
  <dc:subject>PptxGenJS Presentation</dc:subject>
  <dc:creator>Insurance Standards Expert</dc:creator>
  <cp:lastModifiedBy>krishna wadekar</cp:lastModifiedBy>
  <cp:revision>2</cp:revision>
  <dcterms:created xsi:type="dcterms:W3CDTF">2026-02-01T08:15:08Z</dcterms:created>
  <dcterms:modified xsi:type="dcterms:W3CDTF">2026-02-01T13:55:21Z</dcterms:modified>
</cp:coreProperties>
</file>